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965" r:id="rId2"/>
    <p:sldId id="1356" r:id="rId3"/>
    <p:sldId id="1367" r:id="rId4"/>
    <p:sldId id="1357" r:id="rId5"/>
    <p:sldId id="1358" r:id="rId6"/>
    <p:sldId id="1359" r:id="rId7"/>
    <p:sldId id="1360" r:id="rId8"/>
    <p:sldId id="1361" r:id="rId9"/>
    <p:sldId id="1362" r:id="rId10"/>
    <p:sldId id="1363" r:id="rId11"/>
    <p:sldId id="1364" r:id="rId12"/>
  </p:sldIdLst>
  <p:sldSz cx="9144000" cy="6858000" type="screen4x3"/>
  <p:notesSz cx="9928225" cy="6797675"/>
  <p:embeddedFontLst>
    <p:embeddedFont>
      <p:font typeface="Arial Unicode MS" panose="020B0604020202020204" pitchFamily="50" charset="-127"/>
      <p:regular r:id="rId15"/>
    </p:embeddedFont>
    <p:embeddedFont>
      <p:font typeface="HY견고딕" panose="02030600000101010101" pitchFamily="18" charset="-127"/>
      <p:regular r:id="rId16"/>
    </p:embeddedFont>
    <p:embeddedFont>
      <p:font typeface="HY중고딕" panose="02030600000101010101" pitchFamily="18" charset="-127"/>
      <p:regular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2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  <a:srgbClr val="FF9999"/>
    <a:srgbClr val="FF99FF"/>
    <a:srgbClr val="FFBA9B"/>
    <a:srgbClr val="000000"/>
    <a:srgbClr val="BFBC8F"/>
    <a:srgbClr val="94AD60"/>
    <a:srgbClr val="99711A"/>
    <a:srgbClr val="989819"/>
    <a:srgbClr val="60AF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테마 스타일 2 - 강조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00" autoAdjust="0"/>
    <p:restoredTop sz="91722" autoAdjust="0"/>
  </p:normalViewPr>
  <p:slideViewPr>
    <p:cSldViewPr>
      <p:cViewPr varScale="1">
        <p:scale>
          <a:sx n="158" d="100"/>
          <a:sy n="158" d="100"/>
        </p:scale>
        <p:origin x="1704" y="138"/>
      </p:cViewPr>
      <p:guideLst>
        <p:guide orient="horz" pos="682"/>
        <p:guide pos="2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64" d="100"/>
          <a:sy n="164" d="100"/>
        </p:scale>
        <p:origin x="2514" y="138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80585-B510-434B-B9DE-4B9136C3C3EF}" type="datetimeFigureOut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3FBC6-EC79-48DA-9237-D3E333FA48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18340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9C0B8E-7D06-4E0D-939A-434AF6FDA1F7}" type="datetimeFigureOut">
              <a:rPr lang="ko-KR" altLang="en-US" smtClean="0"/>
              <a:pPr/>
              <a:t>2025-10-11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D522B-91C8-490B-8DFA-F67D76DDA7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5553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yonsei.ac.kr/eng/index.asp" TargetMode="External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yonsei.ac.kr/eng/index.asp" TargetMode="External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yonsei.ac.kr/eng/index.asp" TargetMode="External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yonsei.ac.kr/eng/index.asp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yonsei.ac.kr/eng/index.asp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685800" y="2130430"/>
            <a:ext cx="7772400" cy="1470025"/>
          </a:xfrm>
        </p:spPr>
        <p:txBody>
          <a:bodyPr>
            <a:normAutofit/>
          </a:bodyPr>
          <a:lstStyle>
            <a:lvl1pPr>
              <a:defRPr sz="3200" b="1" baseline="0">
                <a:solidFill>
                  <a:srgbClr val="2828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 Unicode MS" pitchFamily="50" charset="-127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38266" y="4866047"/>
            <a:ext cx="6400800" cy="676586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282828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/>
              <a:t>Department of Radiation Convergence Engineering, </a:t>
            </a:r>
            <a:r>
              <a:rPr lang="en-US" altLang="ko-KR" dirty="0" err="1"/>
              <a:t>Yonsei</a:t>
            </a:r>
            <a:r>
              <a:rPr lang="en-US" altLang="ko-KR" dirty="0"/>
              <a:t> University, Republic of Korea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60668" y="6476636"/>
            <a:ext cx="2231876" cy="363329"/>
          </a:xfrm>
          <a:prstGeom prst="roundRect">
            <a:avLst/>
          </a:prstGeom>
          <a:blipFill dpi="0" rotWithShape="1">
            <a:blip r:embed="rId2">
              <a:alphaModFix amt="44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5" name="Picture 2" descr="http://yonsei.ac.kr/eng/images/common/logo.jpg">
            <a:hlinkClick r:id="rId3"/>
          </p:cNvPr>
          <p:cNvPicPr>
            <a:picLocks noChangeAspect="1" noChangeArrowheads="1"/>
          </p:cNvPicPr>
          <p:nvPr userDrawn="1"/>
        </p:nvPicPr>
        <p:blipFill>
          <a:blip r:embed="rId4"/>
          <a:srcRect l="96876"/>
          <a:stretch>
            <a:fillRect/>
          </a:stretch>
        </p:blipFill>
        <p:spPr bwMode="auto">
          <a:xfrm>
            <a:off x="0" y="6381780"/>
            <a:ext cx="9144000" cy="476221"/>
          </a:xfrm>
          <a:prstGeom prst="rect">
            <a:avLst/>
          </a:prstGeom>
          <a:noFill/>
        </p:spPr>
      </p:pic>
      <p:pic>
        <p:nvPicPr>
          <p:cNvPr id="26" name="Picture 2" descr="http://yonsei.ac.kr/eng/images/common/logo.jpg">
            <a:hlinkClick r:id="rId3"/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35496" y="6423733"/>
            <a:ext cx="2363458" cy="432935"/>
          </a:xfrm>
          <a:prstGeom prst="rect">
            <a:avLst/>
          </a:prstGeom>
          <a:noFill/>
        </p:spPr>
      </p:pic>
      <p:cxnSp>
        <p:nvCxnSpPr>
          <p:cNvPr id="29" name="직선 연결선 28"/>
          <p:cNvCxnSpPr/>
          <p:nvPr/>
        </p:nvCxnSpPr>
        <p:spPr>
          <a:xfrm flipV="1">
            <a:off x="323528" y="4863692"/>
            <a:ext cx="0" cy="1528344"/>
          </a:xfrm>
          <a:prstGeom prst="line">
            <a:avLst/>
          </a:prstGeom>
          <a:ln w="136525">
            <a:solidFill>
              <a:srgbClr val="093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텍스트 개체 틀 34"/>
          <p:cNvSpPr>
            <a:spLocks noGrp="1"/>
          </p:cNvSpPr>
          <p:nvPr>
            <p:ph type="body" sz="quarter" idx="13" hasCustomPrompt="1"/>
          </p:nvPr>
        </p:nvSpPr>
        <p:spPr>
          <a:xfrm>
            <a:off x="2699793" y="1772816"/>
            <a:ext cx="3601540" cy="5032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>
                <a:solidFill>
                  <a:srgbClr val="2828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 Unicode MS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20xx </a:t>
            </a:r>
            <a:r>
              <a:rPr lang="en-US" altLang="ko-KR" dirty="0" err="1"/>
              <a:t>xxth</a:t>
            </a:r>
            <a:r>
              <a:rPr lang="en-US" altLang="ko-KR" dirty="0"/>
              <a:t> Conference</a:t>
            </a:r>
            <a:endParaRPr lang="ko-KR" alt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469905" y="6484971"/>
            <a:ext cx="2664000" cy="323165"/>
          </a:xfrm>
          <a:prstGeom prst="rect">
            <a:avLst/>
          </a:prstGeom>
          <a:noFill/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pPr algn="ctr"/>
            <a:r>
              <a:rPr lang="en-US" altLang="ko-KR" sz="15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ko-KR" sz="1400" b="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diation</a:t>
            </a:r>
            <a:r>
              <a:rPr lang="en-US" altLang="ko-KR" sz="14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500" b="0" baseline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PHY</a:t>
            </a:r>
            <a:r>
              <a:rPr lang="en-US" altLang="ko-KR" sz="1400" b="0" baseline="0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sics</a:t>
            </a:r>
            <a:r>
              <a:rPr lang="en-US" altLang="ko-KR" sz="1400" b="0" baseline="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5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ko-KR" sz="1400" b="0" baseline="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nalysis</a:t>
            </a:r>
            <a:r>
              <a:rPr lang="en-US" altLang="ko-KR" sz="14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400" b="0" baseline="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lab.</a:t>
            </a:r>
            <a:endParaRPr lang="ko-KR" altLang="en-US" sz="1400" b="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2" descr="E:\HJ\gradsc_RaPhyA\[양식]ppt 자료\raphya mark\Raphya100000000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459" y="6428753"/>
            <a:ext cx="2628893" cy="42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내용 개체 틀 8"/>
          <p:cNvSpPr>
            <a:spLocks noGrp="1"/>
          </p:cNvSpPr>
          <p:nvPr>
            <p:ph sz="quarter" idx="14" hasCustomPrompt="1"/>
          </p:nvPr>
        </p:nvSpPr>
        <p:spPr>
          <a:xfrm>
            <a:off x="438266" y="5625395"/>
            <a:ext cx="6419734" cy="683925"/>
          </a:xfr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sz="1200" dirty="0" smtClean="0">
                <a:solidFill>
                  <a:srgbClr val="282828"/>
                </a:solidFill>
                <a:ea typeface="Arial Unicode MS" pitchFamily="50" charset="-127"/>
                <a:cs typeface="Arial Unicode MS" pitchFamily="50" charset="-127"/>
              </a:defRPr>
            </a:lvl1pPr>
            <a:lvl2pPr>
              <a:defRPr lang="ko-KR" altLang="en-US" dirty="0" smtClean="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ko-KR" altLang="en-US" dirty="0" smtClean="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ko-KR" altLang="en-US" dirty="0" smtClean="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ko-KR" altLang="en-US" dirty="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marL="0" lvl="0" indent="0">
              <a:buNone/>
            </a:pPr>
            <a:r>
              <a:rPr lang="en-US" altLang="ko-KR" dirty="0"/>
              <a:t>Hyun </a:t>
            </a:r>
            <a:r>
              <a:rPr lang="en-US" altLang="ko-KR" dirty="0" err="1"/>
              <a:t>Joon</a:t>
            </a:r>
            <a:r>
              <a:rPr lang="en-US" altLang="ko-KR" dirty="0"/>
              <a:t> Choi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39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685800" y="2130430"/>
            <a:ext cx="7772400" cy="1470025"/>
          </a:xfrm>
        </p:spPr>
        <p:txBody>
          <a:bodyPr>
            <a:normAutofit/>
          </a:bodyPr>
          <a:lstStyle>
            <a:lvl1pPr>
              <a:defRPr sz="3200" b="1" baseline="0">
                <a:solidFill>
                  <a:srgbClr val="2828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dobe 고딕 Std B" pitchFamily="34" charset="-127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60668" y="6476636"/>
            <a:ext cx="2231876" cy="363329"/>
          </a:xfrm>
          <a:prstGeom prst="roundRect">
            <a:avLst/>
          </a:prstGeom>
          <a:blipFill dpi="0" rotWithShape="1">
            <a:blip r:embed="rId2">
              <a:alphaModFix amt="44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Picture 2" descr="http://yonsei.ac.kr/eng/images/common/logo.jpg">
            <a:hlinkClick r:id="rId3"/>
          </p:cNvPr>
          <p:cNvPicPr>
            <a:picLocks noChangeAspect="1" noChangeArrowheads="1"/>
          </p:cNvPicPr>
          <p:nvPr userDrawn="1"/>
        </p:nvPicPr>
        <p:blipFill>
          <a:blip r:embed="rId4"/>
          <a:srcRect l="96876"/>
          <a:stretch>
            <a:fillRect/>
          </a:stretch>
        </p:blipFill>
        <p:spPr bwMode="auto">
          <a:xfrm>
            <a:off x="0" y="6381780"/>
            <a:ext cx="9144000" cy="476221"/>
          </a:xfrm>
          <a:prstGeom prst="rect">
            <a:avLst/>
          </a:prstGeom>
          <a:noFill/>
        </p:spPr>
      </p:pic>
      <p:pic>
        <p:nvPicPr>
          <p:cNvPr id="26" name="Picture 2" descr="http://yonsei.ac.kr/eng/images/common/logo.jpg">
            <a:hlinkClick r:id="rId3"/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35496" y="6422399"/>
            <a:ext cx="2363458" cy="432935"/>
          </a:xfrm>
          <a:prstGeom prst="rect">
            <a:avLst/>
          </a:prstGeom>
          <a:noFill/>
        </p:spPr>
      </p:pic>
      <p:sp>
        <p:nvSpPr>
          <p:cNvPr id="35" name="텍스트 개체 틀 34"/>
          <p:cNvSpPr>
            <a:spLocks noGrp="1"/>
          </p:cNvSpPr>
          <p:nvPr>
            <p:ph type="body" sz="quarter" idx="13" hasCustomPrompt="1"/>
          </p:nvPr>
        </p:nvSpPr>
        <p:spPr>
          <a:xfrm>
            <a:off x="2699793" y="1772816"/>
            <a:ext cx="3601540" cy="5032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>
                <a:solidFill>
                  <a:srgbClr val="2828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dobe 고딕 Std B" pitchFamily="34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20xx </a:t>
            </a:r>
            <a:r>
              <a:rPr lang="en-US" altLang="ko-KR" dirty="0" err="1"/>
              <a:t>xxth</a:t>
            </a:r>
            <a:r>
              <a:rPr lang="en-US" altLang="ko-KR" dirty="0"/>
              <a:t> Conference</a:t>
            </a:r>
            <a:endParaRPr lang="ko-KR" altLang="en-US" dirty="0"/>
          </a:p>
        </p:txBody>
      </p:sp>
      <p:pic>
        <p:nvPicPr>
          <p:cNvPr id="14" name="Picture 2" descr="E:\HJ\gradsc_RaPhyA\[양식]ppt 자료\raphya mark\Raphya100000000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459" y="6428753"/>
            <a:ext cx="2628893" cy="42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직선 연결선 18"/>
          <p:cNvCxnSpPr/>
          <p:nvPr userDrawn="1"/>
        </p:nvCxnSpPr>
        <p:spPr>
          <a:xfrm>
            <a:off x="0" y="4797152"/>
            <a:ext cx="9144000" cy="0"/>
          </a:xfrm>
          <a:prstGeom prst="line">
            <a:avLst/>
          </a:prstGeom>
          <a:ln>
            <a:solidFill>
              <a:srgbClr val="07284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텍스트 개체 틀 37"/>
          <p:cNvSpPr>
            <a:spLocks noGrp="1"/>
          </p:cNvSpPr>
          <p:nvPr>
            <p:ph type="body" sz="quarter" idx="14" hasCustomPrompt="1"/>
          </p:nvPr>
        </p:nvSpPr>
        <p:spPr>
          <a:xfrm>
            <a:off x="2077261" y="4403204"/>
            <a:ext cx="4989479" cy="803151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rgbClr val="28282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dobe 고딕 Std B" pitchFamily="34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711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685800" y="2130430"/>
            <a:ext cx="7772400" cy="1470025"/>
          </a:xfrm>
        </p:spPr>
        <p:txBody>
          <a:bodyPr>
            <a:normAutofit/>
          </a:bodyPr>
          <a:lstStyle>
            <a:lvl1pPr>
              <a:defRPr sz="3200" b="1" baseline="0">
                <a:solidFill>
                  <a:srgbClr val="282828"/>
                </a:solidFill>
                <a:latin typeface="Arial" pitchFamily="34" charset="0"/>
                <a:ea typeface="Arial Unicode MS" pitchFamily="50" charset="-127"/>
                <a:cs typeface="Arial" pitchFamily="34" charset="0"/>
              </a:defRPr>
            </a:lvl1pPr>
          </a:lstStyle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60668" y="6476636"/>
            <a:ext cx="2231876" cy="363329"/>
          </a:xfrm>
          <a:prstGeom prst="roundRect">
            <a:avLst/>
          </a:prstGeom>
          <a:blipFill dpi="0" rotWithShape="1">
            <a:blip r:embed="rId2">
              <a:alphaModFix amt="44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Picture 2" descr="http://yonsei.ac.kr/eng/images/common/logo.jpg">
            <a:hlinkClick r:id="rId3"/>
          </p:cNvPr>
          <p:cNvPicPr>
            <a:picLocks noChangeAspect="1" noChangeArrowheads="1"/>
          </p:cNvPicPr>
          <p:nvPr userDrawn="1"/>
        </p:nvPicPr>
        <p:blipFill>
          <a:blip r:embed="rId4"/>
          <a:srcRect l="96876"/>
          <a:stretch>
            <a:fillRect/>
          </a:stretch>
        </p:blipFill>
        <p:spPr bwMode="auto">
          <a:xfrm>
            <a:off x="0" y="6381780"/>
            <a:ext cx="9144000" cy="476221"/>
          </a:xfrm>
          <a:prstGeom prst="rect">
            <a:avLst/>
          </a:prstGeom>
          <a:noFill/>
        </p:spPr>
      </p:pic>
      <p:pic>
        <p:nvPicPr>
          <p:cNvPr id="26" name="Picture 2" descr="http://yonsei.ac.kr/eng/images/common/logo.jpg">
            <a:hlinkClick r:id="rId3"/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35496" y="6423733"/>
            <a:ext cx="2363458" cy="432935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 userDrawn="1"/>
        </p:nvSpPr>
        <p:spPr>
          <a:xfrm>
            <a:off x="6469905" y="6484971"/>
            <a:ext cx="2664000" cy="323165"/>
          </a:xfrm>
          <a:prstGeom prst="rect">
            <a:avLst/>
          </a:prstGeom>
          <a:noFill/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pPr algn="ctr"/>
            <a:r>
              <a:rPr lang="en-US" altLang="ko-KR" sz="1500" b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ko-KR" sz="1400" b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diation</a:t>
            </a:r>
            <a:r>
              <a:rPr lang="en-US" altLang="ko-KR" sz="1400" b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500" b="0" baseline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PHY</a:t>
            </a:r>
            <a:r>
              <a:rPr lang="en-US" altLang="ko-KR" sz="1400" b="0" baseline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sics</a:t>
            </a:r>
            <a:r>
              <a:rPr lang="en-US" altLang="ko-KR" sz="1400" b="0" baseline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500" b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ko-KR" sz="1400" b="0" baseline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nalysis</a:t>
            </a:r>
            <a:r>
              <a:rPr lang="en-US" altLang="ko-KR" sz="1400" b="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400" b="0" baseline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lab.</a:t>
            </a:r>
            <a:endParaRPr lang="ko-KR" altLang="en-US" sz="1400" b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2" descr="E:\HJ\gradsc_RaPhyA\[양식]ppt 자료\raphya mark\Raphya100000000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459" y="6428753"/>
            <a:ext cx="2628893" cy="42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01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http://yonsei.ac.kr/eng/images/common/logo.jp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/>
          <a:srcRect l="96876"/>
          <a:stretch>
            <a:fillRect/>
          </a:stretch>
        </p:blipFill>
        <p:spPr bwMode="auto">
          <a:xfrm>
            <a:off x="0" y="6381780"/>
            <a:ext cx="9144000" cy="476221"/>
          </a:xfrm>
          <a:prstGeom prst="rect">
            <a:avLst/>
          </a:prstGeom>
          <a:noFill/>
        </p:spPr>
      </p:pic>
      <p:sp>
        <p:nvSpPr>
          <p:cNvPr id="11" name="제목 10"/>
          <p:cNvSpPr>
            <a:spLocks noGrp="1"/>
          </p:cNvSpPr>
          <p:nvPr>
            <p:ph type="title" hasCustomPrompt="1"/>
          </p:nvPr>
        </p:nvSpPr>
        <p:spPr>
          <a:xfrm>
            <a:off x="184329" y="125760"/>
            <a:ext cx="8780159" cy="638944"/>
          </a:xfrm>
        </p:spPr>
        <p:txBody>
          <a:bodyPr>
            <a:normAutofit/>
          </a:bodyPr>
          <a:lstStyle>
            <a:lvl1pPr algn="l">
              <a:defRPr sz="2800" b="1" baseline="0">
                <a:solidFill>
                  <a:srgbClr val="282828"/>
                </a:solidFill>
                <a:latin typeface="Arial" pitchFamily="34" charset="0"/>
                <a:ea typeface="Arial Unicode MS" pitchFamily="50" charset="-127"/>
                <a:cs typeface="Arial" pitchFamily="34" charset="0"/>
              </a:defRPr>
            </a:lvl1pPr>
          </a:lstStyle>
          <a:p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4128" y="836712"/>
            <a:ext cx="9139872" cy="54007"/>
          </a:xfrm>
          <a:prstGeom prst="rect">
            <a:avLst/>
          </a:prstGeom>
          <a:gradFill flip="none" rotWithShape="1">
            <a:gsLst>
              <a:gs pos="68000">
                <a:srgbClr val="7D96AC"/>
              </a:gs>
              <a:gs pos="34000">
                <a:srgbClr val="093961"/>
              </a:gs>
              <a:gs pos="0">
                <a:srgbClr val="062240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scene3d>
            <a:camera prst="orthographicFront"/>
            <a:lightRig rig="balanced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내용 개체 틀 12"/>
          <p:cNvSpPr>
            <a:spLocks noGrp="1"/>
          </p:cNvSpPr>
          <p:nvPr>
            <p:ph sz="quarter" idx="13" hasCustomPrompt="1"/>
          </p:nvPr>
        </p:nvSpPr>
        <p:spPr>
          <a:xfrm>
            <a:off x="200555" y="1091059"/>
            <a:ext cx="8763933" cy="5074245"/>
          </a:xfrm>
        </p:spPr>
        <p:txBody>
          <a:bodyPr/>
          <a:lstStyle>
            <a:lvl1pPr marL="266700" indent="-266700">
              <a:buFont typeface="Arial Unicode MS" pitchFamily="50" charset="-127"/>
              <a:buChar char="■"/>
              <a:defRPr sz="2400">
                <a:latin typeface="Arial" pitchFamily="34" charset="0"/>
                <a:ea typeface="HY중고딕" pitchFamily="18" charset="-127"/>
                <a:cs typeface="Arial" pitchFamily="34" charset="0"/>
              </a:defRPr>
            </a:lvl1pPr>
            <a:lvl2pPr marL="625475" indent="-269875">
              <a:buFont typeface="Arial" pitchFamily="34" charset="0"/>
              <a:buChar char="•"/>
              <a:defRPr sz="1800">
                <a:latin typeface="Arial" pitchFamily="34" charset="0"/>
                <a:ea typeface="HY중고딕" pitchFamily="18" charset="-127"/>
                <a:cs typeface="Arial" pitchFamily="34" charset="0"/>
              </a:defRPr>
            </a:lvl2pPr>
            <a:lvl3pPr marL="982663" indent="-266700">
              <a:buFont typeface="Arial Unicode MS" pitchFamily="50" charset="-127"/>
              <a:buChar char="­"/>
              <a:defRPr sz="1600">
                <a:latin typeface="Arial" pitchFamily="34" charset="0"/>
                <a:ea typeface="HY중고딕" pitchFamily="18" charset="-127"/>
                <a:cs typeface="Arial" pitchFamily="34" charset="0"/>
              </a:defRPr>
            </a:lvl3pPr>
            <a:lvl4pPr marL="1341438" indent="-266700">
              <a:buFont typeface="+mj-lt"/>
              <a:buAutoNum type="romanUcPeriod"/>
              <a:defRPr sz="1400">
                <a:latin typeface="Arial" pitchFamily="34" charset="0"/>
                <a:ea typeface="HY중고딕" pitchFamily="18" charset="-127"/>
                <a:cs typeface="Arial" pitchFamily="34" charset="0"/>
              </a:defRPr>
            </a:lvl4pPr>
            <a:lvl5pPr marL="1706563" indent="-274638">
              <a:buFont typeface="+mj-lt"/>
              <a:buAutoNum type="alphaLcPeriod"/>
              <a:defRPr sz="1200">
                <a:latin typeface="Arial" pitchFamily="34" charset="0"/>
                <a:ea typeface="HY중고딕" pitchFamily="18" charset="-127"/>
                <a:cs typeface="Arial" pitchFamily="34" charset="0"/>
              </a:defRPr>
            </a:lvl5pPr>
          </a:lstStyle>
          <a:p>
            <a:pPr lvl="0"/>
            <a:r>
              <a:rPr lang="en-US" altLang="ko-KR" dirty="0"/>
              <a:t>Contents</a:t>
            </a:r>
          </a:p>
          <a:p>
            <a:pPr lvl="1"/>
            <a:r>
              <a:rPr lang="en-US" altLang="ko-KR" dirty="0"/>
              <a:t>a</a:t>
            </a:r>
          </a:p>
          <a:p>
            <a:pPr lvl="2"/>
            <a:r>
              <a:rPr lang="en-US" altLang="ko-KR" dirty="0"/>
              <a:t>b</a:t>
            </a:r>
          </a:p>
          <a:p>
            <a:pPr lvl="3"/>
            <a:r>
              <a:rPr lang="en-US" altLang="ko-KR" dirty="0"/>
              <a:t>C</a:t>
            </a:r>
          </a:p>
          <a:p>
            <a:pPr lvl="4"/>
            <a:endParaRPr lang="en-US" altLang="ko-KR" dirty="0"/>
          </a:p>
        </p:txBody>
      </p:sp>
      <p:pic>
        <p:nvPicPr>
          <p:cNvPr id="20" name="Picture 2" descr="http://yonsei.ac.kr/eng/images/common/logo.jp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35496" y="6422399"/>
            <a:ext cx="2363458" cy="43293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6471037" y="6469589"/>
            <a:ext cx="2664000" cy="323165"/>
          </a:xfrm>
          <a:prstGeom prst="rect">
            <a:avLst/>
          </a:prstGeom>
          <a:noFill/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pPr algn="ctr"/>
            <a:r>
              <a:rPr lang="en-US" altLang="ko-KR" sz="1500" b="1" err="1">
                <a:solidFill>
                  <a:schemeClr val="bg1"/>
                </a:solidFill>
                <a:effectLst/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ko-KR" sz="1400" b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diation</a:t>
            </a:r>
            <a:r>
              <a:rPr lang="en-US" altLang="ko-KR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500" b="1" baseline="0" err="1">
                <a:solidFill>
                  <a:schemeClr val="bg1"/>
                </a:solidFill>
                <a:effectLst/>
                <a:latin typeface="Times New Roman" pitchFamily="18" charset="0"/>
                <a:cs typeface="Times New Roman" pitchFamily="18" charset="0"/>
              </a:rPr>
              <a:t>PHY</a:t>
            </a:r>
            <a:r>
              <a:rPr lang="en-US" altLang="ko-KR" sz="1400" b="0" baseline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sics</a:t>
            </a:r>
            <a:r>
              <a:rPr lang="en-US" altLang="ko-KR" sz="1400" b="1" baseline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500" b="1" baseline="0">
                <a:solidFill>
                  <a:schemeClr val="bg1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ko-KR" sz="1400" b="0" baseline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nalysis</a:t>
            </a:r>
            <a:r>
              <a:rPr lang="en-US" altLang="ko-KR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400" b="0" baseline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lab.</a:t>
            </a:r>
            <a:endParaRPr lang="ko-KR" altLang="en-US" sz="1400" b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E:\HJ\gradsc_RaPhyA\[양식]ppt 자료\raphya mark\Raphya100000000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144" y="6435106"/>
            <a:ext cx="2628893" cy="42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83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http://yonsei.ac.kr/eng/images/common/logo.jp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/>
          <a:srcRect l="96876"/>
          <a:stretch>
            <a:fillRect/>
          </a:stretch>
        </p:blipFill>
        <p:spPr bwMode="auto">
          <a:xfrm>
            <a:off x="0" y="6381780"/>
            <a:ext cx="9144000" cy="476221"/>
          </a:xfrm>
          <a:prstGeom prst="rect">
            <a:avLst/>
          </a:prstGeom>
          <a:noFill/>
        </p:spPr>
      </p:pic>
      <p:sp>
        <p:nvSpPr>
          <p:cNvPr id="11" name="제목 10"/>
          <p:cNvSpPr>
            <a:spLocks noGrp="1"/>
          </p:cNvSpPr>
          <p:nvPr>
            <p:ph type="title" hasCustomPrompt="1"/>
          </p:nvPr>
        </p:nvSpPr>
        <p:spPr>
          <a:xfrm>
            <a:off x="184329" y="125760"/>
            <a:ext cx="8780159" cy="638944"/>
          </a:xfrm>
        </p:spPr>
        <p:txBody>
          <a:bodyPr>
            <a:normAutofit/>
          </a:bodyPr>
          <a:lstStyle>
            <a:lvl1pPr algn="l">
              <a:defRPr sz="2800" b="1" baseline="0">
                <a:solidFill>
                  <a:srgbClr val="282828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한글판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4128" y="836712"/>
            <a:ext cx="9139872" cy="54007"/>
          </a:xfrm>
          <a:prstGeom prst="rect">
            <a:avLst/>
          </a:prstGeom>
          <a:gradFill flip="none" rotWithShape="1">
            <a:gsLst>
              <a:gs pos="68000">
                <a:srgbClr val="7D96AC"/>
              </a:gs>
              <a:gs pos="34000">
                <a:srgbClr val="093961"/>
              </a:gs>
              <a:gs pos="0">
                <a:srgbClr val="062240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scene3d>
            <a:camera prst="orthographicFront"/>
            <a:lightRig rig="balanced" dir="t"/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13"/>
          </p:nvPr>
        </p:nvSpPr>
        <p:spPr>
          <a:xfrm>
            <a:off x="200555" y="1091059"/>
            <a:ext cx="8763933" cy="5074245"/>
          </a:xfrm>
        </p:spPr>
        <p:txBody>
          <a:bodyPr/>
          <a:lstStyle>
            <a:lvl1pPr marL="266700" indent="-266700">
              <a:buFont typeface="Arial Unicode MS" pitchFamily="50" charset="-127"/>
              <a:buChar char="■"/>
              <a:defRPr sz="24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marL="625475" indent="-269875">
              <a:buFont typeface="Arial" pitchFamily="34" charset="0"/>
              <a:buChar char="•"/>
              <a:defRPr sz="18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2pPr>
            <a:lvl3pPr marL="982663" indent="-266700">
              <a:buFont typeface="Arial Unicode MS" pitchFamily="50" charset="-127"/>
              <a:buChar char="­"/>
              <a:defRPr sz="16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3pPr>
            <a:lvl4pPr marL="1341438" indent="-266700">
              <a:buFont typeface="+mj-lt"/>
              <a:buAutoNum type="romanUcPeriod"/>
              <a:defRPr sz="14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4pPr>
            <a:lvl5pPr marL="1706563" indent="-274638">
              <a:buFont typeface="+mj-lt"/>
              <a:buAutoNum type="alphaLcPeriod"/>
              <a:defRPr sz="1200"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20" name="Picture 2" descr="http://yonsei.ac.kr/eng/images/common/logo.jp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35496" y="6422399"/>
            <a:ext cx="2363458" cy="43293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6471037" y="6469589"/>
            <a:ext cx="2664000" cy="323165"/>
          </a:xfrm>
          <a:prstGeom prst="rect">
            <a:avLst/>
          </a:prstGeom>
          <a:noFill/>
        </p:spPr>
        <p:txBody>
          <a:bodyPr wrap="square" rtlCol="0" anchor="ctr">
            <a:spAutoFit/>
            <a:scene3d>
              <a:camera prst="orthographicFront"/>
              <a:lightRig rig="threePt" dir="t"/>
            </a:scene3d>
            <a:sp3d extrusionH="57150">
              <a:bevelT w="69850" h="38100" prst="cross"/>
            </a:sp3d>
          </a:bodyPr>
          <a:lstStyle/>
          <a:p>
            <a:pPr algn="ctr"/>
            <a:r>
              <a:rPr lang="en-US" altLang="ko-KR" sz="1500" b="1" err="1">
                <a:solidFill>
                  <a:schemeClr val="bg1"/>
                </a:solidFill>
                <a:effectLst/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ko-KR" sz="1400" b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diation</a:t>
            </a:r>
            <a:r>
              <a:rPr lang="en-US" altLang="ko-KR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500" b="1" baseline="0" err="1">
                <a:solidFill>
                  <a:schemeClr val="bg1"/>
                </a:solidFill>
                <a:effectLst/>
                <a:latin typeface="Times New Roman" pitchFamily="18" charset="0"/>
                <a:cs typeface="Times New Roman" pitchFamily="18" charset="0"/>
              </a:rPr>
              <a:t>PHY</a:t>
            </a:r>
            <a:r>
              <a:rPr lang="en-US" altLang="ko-KR" sz="1400" b="0" baseline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sics</a:t>
            </a:r>
            <a:r>
              <a:rPr lang="en-US" altLang="ko-KR" sz="1400" b="1" baseline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500" b="1" baseline="0">
                <a:solidFill>
                  <a:schemeClr val="bg1"/>
                </a:solidFill>
                <a:effectLst/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ko-KR" sz="1400" b="0" baseline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nalysis</a:t>
            </a:r>
            <a:r>
              <a:rPr lang="en-US" altLang="ko-KR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1400" b="0" baseline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lab.</a:t>
            </a:r>
            <a:endParaRPr lang="ko-KR" altLang="en-US" sz="1400" b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E:\HJ\gradsc_RaPhyA\[양식]ppt 자료\raphya mark\Raphya100000000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144" y="6435106"/>
            <a:ext cx="2628893" cy="42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4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3612808" y="3412066"/>
            <a:ext cx="1909840" cy="0"/>
          </a:xfrm>
          <a:prstGeom prst="line">
            <a:avLst/>
          </a:prstGeom>
          <a:ln>
            <a:solidFill>
              <a:srgbClr val="FF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1217637" y="3475508"/>
            <a:ext cx="6697663" cy="432147"/>
          </a:xfrm>
        </p:spPr>
        <p:txBody>
          <a:bodyPr anchor="ctr"/>
          <a:lstStyle>
            <a:lvl1pPr marL="0" indent="0" algn="ctr">
              <a:buNone/>
              <a:def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Q &amp; A</a:t>
            </a:r>
            <a:endParaRPr lang="ko-KR" altLang="en-US" dirty="0"/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1217637" y="2958812"/>
            <a:ext cx="6697663" cy="432047"/>
          </a:xfrm>
        </p:spPr>
        <p:txBody>
          <a:bodyPr anchor="ctr"/>
          <a:lstStyle>
            <a:lvl1pPr marL="0" indent="0" algn="ctr">
              <a:buNone/>
              <a:def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8614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969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altLang="ko-KR" dirty="0"/>
              <a:t>&lt;#&gt;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0273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4" r:id="rId3"/>
    <p:sldLayoutId id="2147483651" r:id="rId4"/>
    <p:sldLayoutId id="2147483656" r:id="rId5"/>
    <p:sldLayoutId id="2147483653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 baseline="0">
          <a:solidFill>
            <a:schemeClr val="tx1"/>
          </a:solidFill>
          <a:latin typeface="HY견고딕" pitchFamily="18" charset="-127"/>
          <a:ea typeface="Arial Unicode MS" pitchFamily="50" charset="-127"/>
          <a:cs typeface="Arial Unicode MS" pitchFamily="50" charset="-127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tx1"/>
          </a:solidFill>
          <a:latin typeface="Arial Unicode MS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 baseline="0">
          <a:solidFill>
            <a:schemeClr val="tx1"/>
          </a:solidFill>
          <a:latin typeface="Arial Unicode MS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Arial Unicode MS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Arial Unicode MS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 baseline="0">
          <a:solidFill>
            <a:schemeClr val="tx1"/>
          </a:solidFill>
          <a:latin typeface="Arial Unicode MS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backend.totalsegmentator.com/license-academic/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8062664" cy="1470025"/>
          </a:xfrm>
        </p:spPr>
        <p:txBody>
          <a:bodyPr/>
          <a:lstStyle/>
          <a:p>
            <a:r>
              <a:rPr lang="ko-KR" altLang="en-US"/>
              <a:t>특징 추출 과정 정리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/>
              <a:t>년 </a:t>
            </a:r>
            <a:r>
              <a:rPr lang="en-US" altLang="ko-KR"/>
              <a:t>10</a:t>
            </a:r>
            <a:r>
              <a:rPr lang="ko-KR" altLang="en-US"/>
              <a:t>월 </a:t>
            </a:r>
            <a:r>
              <a:rPr lang="en-US" altLang="ko-KR"/>
              <a:t>11</a:t>
            </a:r>
            <a:r>
              <a:rPr lang="ko-KR" altLang="en-US"/>
              <a:t>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2455005" y="4437112"/>
            <a:ext cx="4091115" cy="803151"/>
          </a:xfrm>
        </p:spPr>
        <p:txBody>
          <a:bodyPr>
            <a:normAutofit/>
          </a:bodyPr>
          <a:lstStyle/>
          <a:p>
            <a:r>
              <a:rPr lang="ko-KR" altLang="en-US" sz="1800" b="0" dirty="0"/>
              <a:t>연세대학교 방사선학과</a:t>
            </a:r>
            <a:endParaRPr lang="en-US" altLang="ko-KR" sz="1800" b="0" dirty="0"/>
          </a:p>
          <a:p>
            <a:r>
              <a:rPr lang="ko-KR" altLang="en-US" sz="1800" b="0"/>
              <a:t>양 현 민</a:t>
            </a:r>
            <a:endParaRPr lang="ko-KR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173748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4EA7A-6A7D-481A-9093-0C319022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주의</a:t>
            </a:r>
            <a:r>
              <a:rPr lang="en-US" altLang="ko-KR"/>
              <a:t>!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82E61-9CC5-4B30-BC7A-9B7006FF758F}"/>
              </a:ext>
            </a:extLst>
          </p:cNvPr>
          <p:cNvSpPr txBox="1"/>
          <p:nvPr/>
        </p:nvSpPr>
        <p:spPr>
          <a:xfrm>
            <a:off x="107504" y="980728"/>
            <a:ext cx="3012363" cy="480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1.</a:t>
            </a:r>
            <a:r>
              <a:rPr lang="ko-KR" alt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Python</a:t>
            </a:r>
            <a:r>
              <a:rPr lang="ko-KR" alt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을 꼭 설치해 주세요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A0C24A0-6D86-48C2-9ECB-E29FD7EDC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677461"/>
            <a:ext cx="1368152" cy="1368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A65072-368C-463E-A124-9D518FFE58A9}"/>
              </a:ext>
            </a:extLst>
          </p:cNvPr>
          <p:cNvSpPr txBox="1"/>
          <p:nvPr/>
        </p:nvSpPr>
        <p:spPr>
          <a:xfrm>
            <a:off x="107504" y="3273551"/>
            <a:ext cx="3849131" cy="480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2. </a:t>
            </a:r>
            <a:r>
              <a:rPr lang="ko-KR" alt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사용할</a:t>
            </a:r>
            <a:r>
              <a:rPr lang="en-US" altLang="ko-KR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ko-KR" altLang="en-US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프로그램 또한 설치해야 합니다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FD9FD4-7FFD-490F-BD29-7F49DF9637EB}"/>
              </a:ext>
            </a:extLst>
          </p:cNvPr>
          <p:cNvSpPr txBox="1"/>
          <p:nvPr/>
        </p:nvSpPr>
        <p:spPr>
          <a:xfrm>
            <a:off x="3119867" y="1772816"/>
            <a:ext cx="5686172" cy="1367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/>
              <a:t>Python</a:t>
            </a:r>
            <a:r>
              <a:rPr lang="ko-KR" altLang="en-US"/>
              <a:t>을 구동하기 위해 설치는 필수입니다</a:t>
            </a:r>
            <a:endParaRPr lang="en-US" altLang="ko-KR"/>
          </a:p>
          <a:p>
            <a:pPr>
              <a:lnSpc>
                <a:spcPct val="160000"/>
              </a:lnSpc>
            </a:pPr>
            <a:r>
              <a:rPr lang="en-US" altLang="ko-KR">
                <a:ln>
                  <a:solidFill>
                    <a:schemeClr val="tx1"/>
                  </a:solidFill>
                </a:ln>
              </a:rPr>
              <a:t>PyCharm, VS Code</a:t>
            </a:r>
            <a:r>
              <a:rPr lang="ko-KR" altLang="en-US"/>
              <a:t>와 같이 </a:t>
            </a:r>
            <a:r>
              <a:rPr lang="en-US" altLang="ko-KR"/>
              <a:t>IDE </a:t>
            </a:r>
            <a:r>
              <a:rPr lang="ko-KR" altLang="en-US"/>
              <a:t>또는 텍스트 편집기도 설치</a:t>
            </a:r>
            <a:r>
              <a:rPr lang="en-US" altLang="ko-KR"/>
              <a:t>!</a:t>
            </a:r>
          </a:p>
          <a:p>
            <a:pPr>
              <a:lnSpc>
                <a:spcPct val="160000"/>
              </a:lnSpc>
            </a:pPr>
            <a:r>
              <a:rPr lang="ko-KR" altLang="en-US">
                <a:ln>
                  <a:solidFill>
                    <a:schemeClr val="tx1"/>
                  </a:solidFill>
                </a:ln>
              </a:rPr>
              <a:t>가상 환경</a:t>
            </a:r>
            <a:r>
              <a:rPr lang="ko-KR" altLang="en-US"/>
              <a:t>을 만들어 실행해야 합니다</a:t>
            </a:r>
            <a:r>
              <a:rPr lang="en-US" altLang="ko-KR"/>
              <a:t>(api </a:t>
            </a:r>
            <a:r>
              <a:rPr lang="ko-KR" altLang="en-US"/>
              <a:t>호출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FD0BA82-D166-4EBE-8245-0576590B2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5" y="4077072"/>
            <a:ext cx="2628808" cy="166995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1FCD44C-5EC0-48C4-9E10-5ED016B3A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832" y="4077071"/>
            <a:ext cx="2966367" cy="16699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AA173D-15F6-4282-8B45-0C6896870E57}"/>
              </a:ext>
            </a:extLst>
          </p:cNvPr>
          <p:cNvSpPr txBox="1"/>
          <p:nvPr/>
        </p:nvSpPr>
        <p:spPr>
          <a:xfrm>
            <a:off x="6026199" y="4228495"/>
            <a:ext cx="2635658" cy="1367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/>
              <a:t>각</a:t>
            </a:r>
            <a:r>
              <a:rPr lang="en-US" altLang="ko-KR"/>
              <a:t> pip install ‘1, 2’</a:t>
            </a:r>
            <a:r>
              <a:rPr lang="ko-KR" altLang="en-US"/>
              <a:t>는 필수</a:t>
            </a:r>
            <a:r>
              <a:rPr lang="en-US" altLang="ko-KR"/>
              <a:t>!</a:t>
            </a:r>
          </a:p>
          <a:p>
            <a:pPr marL="342900" indent="-342900">
              <a:lnSpc>
                <a:spcPct val="160000"/>
              </a:lnSpc>
              <a:buAutoNum type="arabicPeriod"/>
            </a:pPr>
            <a:r>
              <a:rPr lang="en-US" altLang="ko-KR"/>
              <a:t>TotalSegmentator</a:t>
            </a:r>
          </a:p>
          <a:p>
            <a:pPr marL="342900" indent="-342900">
              <a:lnSpc>
                <a:spcPct val="160000"/>
              </a:lnSpc>
              <a:buAutoNum type="arabicPeriod"/>
            </a:pPr>
            <a:r>
              <a:rPr lang="en-US" altLang="ko-KR"/>
              <a:t>Pyradiomics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78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4EA7A-6A7D-481A-9093-0C319022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TotalSegmentator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2A3D66-2EC7-4277-A935-BA61D560F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29" y="1140605"/>
            <a:ext cx="3584851" cy="3173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C82E61-9CC5-4B30-BC7A-9B7006FF758F}"/>
              </a:ext>
            </a:extLst>
          </p:cNvPr>
          <p:cNvSpPr txBox="1"/>
          <p:nvPr/>
        </p:nvSpPr>
        <p:spPr>
          <a:xfrm>
            <a:off x="251520" y="4653136"/>
            <a:ext cx="8515473" cy="1810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/>
              <a:t>첫 번째로 사용할 도구는 </a:t>
            </a:r>
            <a:r>
              <a:rPr lang="en-US" altLang="ko-KR"/>
              <a:t>TotalSegmentator</a:t>
            </a:r>
            <a:r>
              <a:rPr lang="ko-KR" altLang="en-US"/>
              <a:t>입니다</a:t>
            </a:r>
            <a:endParaRPr lang="en-US" altLang="ko-KR"/>
          </a:p>
          <a:p>
            <a:pPr>
              <a:lnSpc>
                <a:spcPct val="160000"/>
              </a:lnSpc>
            </a:pPr>
            <a:r>
              <a:rPr lang="en-US" altLang="ko-KR"/>
              <a:t>CT/MRI </a:t>
            </a:r>
            <a:r>
              <a:rPr lang="ko-KR" altLang="en-US"/>
              <a:t>영상을 넣었을 때 이미 딥러닝된 </a:t>
            </a:r>
            <a:r>
              <a:rPr lang="en-US" altLang="ko-KR"/>
              <a:t>Weight Model</a:t>
            </a:r>
            <a:r>
              <a:rPr lang="ko-KR" altLang="en-US"/>
              <a:t>을 이용해 원하는 </a:t>
            </a:r>
            <a:r>
              <a:rPr lang="en-US" altLang="ko-KR"/>
              <a:t>ROI(</a:t>
            </a:r>
            <a:r>
              <a:rPr lang="ko-KR" altLang="en-US"/>
              <a:t>선택 부위</a:t>
            </a:r>
            <a:r>
              <a:rPr lang="en-US" altLang="ko-KR"/>
              <a:t>)</a:t>
            </a:r>
            <a:r>
              <a:rPr lang="ko-KR" altLang="en-US"/>
              <a:t>를 </a:t>
            </a:r>
            <a:endParaRPr lang="en-US" altLang="ko-KR"/>
          </a:p>
          <a:p>
            <a:pPr>
              <a:lnSpc>
                <a:spcPct val="160000"/>
              </a:lnSpc>
            </a:pPr>
            <a:r>
              <a:rPr lang="ko-KR" altLang="en-US"/>
              <a:t>얻을 수 있는 </a:t>
            </a:r>
            <a:r>
              <a:rPr lang="en-US" altLang="ko-KR"/>
              <a:t>Python </a:t>
            </a:r>
            <a:r>
              <a:rPr lang="ko-KR" altLang="en-US"/>
              <a:t>기반 프로그램이라고 생각하시면 됩니다</a:t>
            </a:r>
            <a:endParaRPr lang="en-US" altLang="ko-KR"/>
          </a:p>
          <a:p>
            <a:pPr>
              <a:lnSpc>
                <a:spcPct val="160000"/>
              </a:lnSpc>
            </a:pPr>
            <a:r>
              <a:rPr lang="ko-KR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086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4EA7A-6A7D-481A-9093-0C319022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TotalSegmentator </a:t>
            </a:r>
            <a:r>
              <a:rPr lang="ko-KR" altLang="en-US"/>
              <a:t>작동 설명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82E61-9CC5-4B30-BC7A-9B7006FF758F}"/>
              </a:ext>
            </a:extLst>
          </p:cNvPr>
          <p:cNvSpPr txBox="1"/>
          <p:nvPr/>
        </p:nvSpPr>
        <p:spPr>
          <a:xfrm>
            <a:off x="21824" y="4904703"/>
            <a:ext cx="9283311" cy="923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/>
              <a:t>TotalSegmentator</a:t>
            </a:r>
            <a:r>
              <a:rPr lang="ko-KR" altLang="en-US"/>
              <a:t>는 </a:t>
            </a:r>
            <a:r>
              <a:rPr lang="en-US" altLang="ko-KR"/>
              <a:t>CT </a:t>
            </a:r>
            <a:r>
              <a:rPr lang="ko-KR" altLang="en-US"/>
              <a:t>영상을 다음과 같이 </a:t>
            </a:r>
            <a:r>
              <a:rPr lang="en-US" altLang="ko-KR"/>
              <a:t>NIfTI</a:t>
            </a:r>
            <a:r>
              <a:rPr lang="ko-KR" altLang="en-US"/>
              <a:t>라는 영상의 형식으로 바꾸어 실행됩니다</a:t>
            </a:r>
            <a:r>
              <a:rPr lang="en-US" altLang="ko-KR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/>
              <a:t>이를 가상환경에서 실행하기 위해서는 다음과 같이 터미널 환경에서 명령어를 그대로 입력하면 됩니다 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EEDD949-A66A-4103-BD2D-37F192987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29" y="1340768"/>
            <a:ext cx="3589322" cy="201622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322CD23-2598-44CD-8430-42154502F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340768"/>
            <a:ext cx="2935460" cy="2016224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67952F83-C390-4514-BAFA-150FABF05349}"/>
              </a:ext>
            </a:extLst>
          </p:cNvPr>
          <p:cNvSpPr/>
          <p:nvPr/>
        </p:nvSpPr>
        <p:spPr>
          <a:xfrm>
            <a:off x="3995936" y="2060848"/>
            <a:ext cx="720080" cy="504056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69BC94-AEA8-4A78-B48B-4EDED0718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43129"/>
            <a:ext cx="9144000" cy="90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7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4EA7A-6A7D-481A-9093-0C319022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TotalSegmentator </a:t>
            </a:r>
            <a:r>
              <a:rPr lang="ko-KR" altLang="en-US"/>
              <a:t>코드 예시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82E61-9CC5-4B30-BC7A-9B7006FF758F}"/>
              </a:ext>
            </a:extLst>
          </p:cNvPr>
          <p:cNvSpPr txBox="1"/>
          <p:nvPr/>
        </p:nvSpPr>
        <p:spPr>
          <a:xfrm>
            <a:off x="0" y="4725144"/>
            <a:ext cx="9283311" cy="1367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/>
              <a:t>TotalSegmentator</a:t>
            </a:r>
            <a:r>
              <a:rPr lang="ko-KR" altLang="en-US"/>
              <a:t>를 사용하는 방법은 크게 다음과 같이 </a:t>
            </a:r>
            <a:r>
              <a:rPr lang="en-US" altLang="ko-KR"/>
              <a:t>2</a:t>
            </a:r>
            <a:r>
              <a:rPr lang="ko-KR" altLang="en-US"/>
              <a:t>가지 방식이 존재합니다</a:t>
            </a:r>
            <a:r>
              <a:rPr lang="en-US" altLang="ko-KR"/>
              <a:t>(</a:t>
            </a:r>
            <a:r>
              <a:rPr lang="ko-KR" altLang="en-US"/>
              <a:t>편의에 맞추세요</a:t>
            </a:r>
            <a:r>
              <a:rPr lang="en-US" altLang="ko-KR"/>
              <a:t>).</a:t>
            </a:r>
          </a:p>
          <a:p>
            <a:pPr marL="342900" indent="-342900">
              <a:lnSpc>
                <a:spcPct val="160000"/>
              </a:lnSpc>
              <a:buAutoNum type="arabicPeriod"/>
            </a:pPr>
            <a:r>
              <a:rPr lang="en-US" altLang="ko-KR"/>
              <a:t>API </a:t>
            </a:r>
            <a:r>
              <a:rPr lang="ko-KR" altLang="en-US"/>
              <a:t>호출 방식으로 진행</a:t>
            </a:r>
            <a:r>
              <a:rPr lang="en-US" altLang="ko-KR"/>
              <a:t>: </a:t>
            </a:r>
            <a:r>
              <a:rPr lang="ko-KR" altLang="en-US"/>
              <a:t>자신의 실행 환경에 따라 달라질 수 있는 방식입니다</a:t>
            </a:r>
            <a:r>
              <a:rPr lang="en-US" altLang="ko-KR"/>
              <a:t>.</a:t>
            </a:r>
          </a:p>
          <a:p>
            <a:pPr marL="342900" indent="-342900">
              <a:lnSpc>
                <a:spcPct val="160000"/>
              </a:lnSpc>
              <a:buAutoNum type="arabicPeriod"/>
            </a:pPr>
            <a:r>
              <a:rPr lang="en-US" altLang="ko-KR"/>
              <a:t>Subprocess </a:t>
            </a:r>
            <a:r>
              <a:rPr lang="ko-KR" altLang="en-US"/>
              <a:t>방식</a:t>
            </a:r>
            <a:r>
              <a:rPr lang="en-US" altLang="ko-KR"/>
              <a:t>: </a:t>
            </a:r>
            <a:r>
              <a:rPr lang="ko-KR" altLang="en-US"/>
              <a:t>가상 환경 명령을 조금 더 명시적으로 조정할 수 있는 방식입니다</a:t>
            </a:r>
            <a:r>
              <a:rPr lang="en-US" altLang="ko-KR"/>
              <a:t>. 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EDCEFE-17B6-460B-B4EB-8EBC47A4F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24744"/>
            <a:ext cx="4610743" cy="169568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EFDD1C5-F206-4D95-9A2A-AF6AD4F19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959" y="1124744"/>
            <a:ext cx="4165529" cy="268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90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4EA7A-6A7D-481A-9093-0C319022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License </a:t>
            </a:r>
            <a:r>
              <a:rPr lang="ko-KR" altLang="en-US"/>
              <a:t>설치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82E61-9CC5-4B30-BC7A-9B7006FF758F}"/>
              </a:ext>
            </a:extLst>
          </p:cNvPr>
          <p:cNvSpPr txBox="1"/>
          <p:nvPr/>
        </p:nvSpPr>
        <p:spPr>
          <a:xfrm>
            <a:off x="107504" y="4666115"/>
            <a:ext cx="11665296" cy="1225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600"/>
              <a:t>모델에 사용할 부위는 근육과 지방입니다</a:t>
            </a:r>
            <a:r>
              <a:rPr lang="en-US" altLang="ko-KR" sz="1600"/>
              <a:t>, </a:t>
            </a:r>
            <a:r>
              <a:rPr lang="ko-KR" altLang="en-US" sz="1600"/>
              <a:t>이를 쓰기 위해서는 </a:t>
            </a:r>
            <a:r>
              <a:rPr lang="en-US" altLang="ko-KR" sz="1600"/>
              <a:t>tissue_4_type</a:t>
            </a:r>
            <a:r>
              <a:rPr lang="ko-KR" altLang="en-US" sz="1600"/>
              <a:t>이라는 부위를 설정해야</a:t>
            </a:r>
            <a:r>
              <a:rPr lang="en-US" altLang="ko-KR" sz="1600"/>
              <a:t> </a:t>
            </a:r>
            <a:r>
              <a:rPr lang="ko-KR" altLang="en-US" sz="1600"/>
              <a:t>합니다</a:t>
            </a:r>
            <a:r>
              <a:rPr lang="en-US" altLang="ko-KR" sz="160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sz="1600"/>
              <a:t>다만</a:t>
            </a:r>
            <a:r>
              <a:rPr lang="en-US" altLang="ko-KR" sz="1600"/>
              <a:t>, </a:t>
            </a:r>
            <a:r>
              <a:rPr lang="ko-KR" altLang="en-US" sz="1600"/>
              <a:t>현재 제공되는 </a:t>
            </a:r>
            <a:r>
              <a:rPr lang="en-US" altLang="ko-KR" sz="1600"/>
              <a:t>Subcutaneous fat</a:t>
            </a:r>
            <a:r>
              <a:rPr lang="ko-KR" altLang="en-US" sz="1600"/>
              <a:t>과 </a:t>
            </a:r>
            <a:r>
              <a:rPr lang="en-US" altLang="ko-KR" sz="1600"/>
              <a:t>Skeletal Muscle</a:t>
            </a:r>
            <a:r>
              <a:rPr lang="ko-KR" altLang="en-US" sz="1600"/>
              <a:t>은 공식으로 지원하지 않아 라이선스를 받아야 해요</a:t>
            </a:r>
            <a:endParaRPr lang="en-US" altLang="ko-KR" sz="1600"/>
          </a:p>
          <a:p>
            <a:pPr>
              <a:lnSpc>
                <a:spcPct val="160000"/>
              </a:lnSpc>
            </a:pPr>
            <a:r>
              <a:rPr lang="ko-KR" altLang="en-US" sz="1600"/>
              <a:t>그래서</a:t>
            </a:r>
            <a:r>
              <a:rPr lang="en-US" altLang="ko-KR" sz="1600"/>
              <a:t>, </a:t>
            </a:r>
            <a:r>
              <a:rPr lang="en-US" altLang="ko-KR" sz="1600">
                <a:hlinkClick r:id="rId2"/>
              </a:rPr>
              <a:t>here</a:t>
            </a:r>
            <a:r>
              <a:rPr lang="ko-KR" altLang="en-US" sz="1600"/>
              <a:t> 에 들어가서 라이선스를 발급받으면 됩니다</a:t>
            </a:r>
            <a:r>
              <a:rPr lang="en-US" altLang="ko-KR" sz="1600"/>
              <a:t>. </a:t>
            </a:r>
            <a:endParaRPr lang="ko-KR" altLang="en-US" sz="16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AAB037-049F-4DAF-B98A-BDF534CEF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6098"/>
            <a:ext cx="9144000" cy="333862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F484A7F3-66C2-42C2-B0D8-686F233189BF}"/>
              </a:ext>
            </a:extLst>
          </p:cNvPr>
          <p:cNvSpPr/>
          <p:nvPr/>
        </p:nvSpPr>
        <p:spPr>
          <a:xfrm>
            <a:off x="539552" y="3212976"/>
            <a:ext cx="8136904" cy="1080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75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4EA7A-6A7D-481A-9093-0C319022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License </a:t>
            </a:r>
            <a:r>
              <a:rPr lang="ko-KR" altLang="en-US"/>
              <a:t>가상환경 적용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82E61-9CC5-4B30-BC7A-9B7006FF758F}"/>
              </a:ext>
            </a:extLst>
          </p:cNvPr>
          <p:cNvSpPr txBox="1"/>
          <p:nvPr/>
        </p:nvSpPr>
        <p:spPr>
          <a:xfrm>
            <a:off x="251520" y="4653136"/>
            <a:ext cx="8055410" cy="923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/>
              <a:t>라이선스를 받으셨다면 다음과 같이 가상환경에 적용하면 됩니다</a:t>
            </a:r>
            <a:r>
              <a:rPr lang="en-US" altLang="ko-KR"/>
              <a:t>. </a:t>
            </a:r>
          </a:p>
          <a:p>
            <a:pPr>
              <a:lnSpc>
                <a:spcPct val="160000"/>
              </a:lnSpc>
            </a:pPr>
            <a:r>
              <a:rPr lang="ko-KR" altLang="en-US"/>
              <a:t>이후</a:t>
            </a:r>
            <a:r>
              <a:rPr lang="en-US" altLang="ko-KR"/>
              <a:t>, </a:t>
            </a:r>
            <a:r>
              <a:rPr lang="ko-KR" altLang="en-US"/>
              <a:t>본격적으로 우리는 </a:t>
            </a:r>
            <a:r>
              <a:rPr lang="en-US" altLang="ko-KR"/>
              <a:t>CT </a:t>
            </a:r>
            <a:r>
              <a:rPr lang="ko-KR" altLang="en-US"/>
              <a:t>영상에서 원하는 지방과 근육을 뽑을 준비를 마친 것입니다</a:t>
            </a:r>
            <a:r>
              <a:rPr lang="en-US" altLang="ko-KR"/>
              <a:t>. 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485C2E4-F015-4112-A606-C191A49D4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96752"/>
            <a:ext cx="6182588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8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4EA7A-6A7D-481A-9093-0C319022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TotalSegmentator Scripts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82E61-9CC5-4B30-BC7A-9B7006FF758F}"/>
              </a:ext>
            </a:extLst>
          </p:cNvPr>
          <p:cNvSpPr txBox="1"/>
          <p:nvPr/>
        </p:nvSpPr>
        <p:spPr>
          <a:xfrm>
            <a:off x="251520" y="4653136"/>
            <a:ext cx="6609502" cy="923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/>
              <a:t>스크립트는 다음과 같이 함수 부분을 제공해 드리겠습니다</a:t>
            </a:r>
            <a:r>
              <a:rPr lang="en-US" altLang="ko-KR"/>
              <a:t>. </a:t>
            </a:r>
          </a:p>
          <a:p>
            <a:pPr>
              <a:lnSpc>
                <a:spcPct val="160000"/>
              </a:lnSpc>
            </a:pPr>
            <a:r>
              <a:rPr lang="ko-KR" altLang="en-US"/>
              <a:t>혹여나 진행이 어려운 분들은 알려주시면 전체 코드 전송해드리겠습니다</a:t>
            </a:r>
            <a:r>
              <a:rPr lang="en-US" altLang="ko-KR"/>
              <a:t>!</a:t>
            </a:r>
            <a:r>
              <a:rPr lang="ko-KR" altLang="en-US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FE46FD-BE1C-4ABA-A3BB-676F6B6BC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24744"/>
            <a:ext cx="4610743" cy="16956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3735F0D-83B2-408A-AF20-5783E5D3B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959" y="1124744"/>
            <a:ext cx="4165529" cy="268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2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4EA7A-6A7D-481A-9093-0C319022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Pyradiomics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82E61-9CC5-4B30-BC7A-9B7006FF758F}"/>
              </a:ext>
            </a:extLst>
          </p:cNvPr>
          <p:cNvSpPr txBox="1"/>
          <p:nvPr/>
        </p:nvSpPr>
        <p:spPr>
          <a:xfrm>
            <a:off x="107504" y="4064415"/>
            <a:ext cx="242374" cy="480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/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216F7B-F8ED-4A68-95E7-02DB42305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924864"/>
            <a:ext cx="3834603" cy="28641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B2BB9B7-0A34-4B0B-859B-68885DDA2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908720"/>
            <a:ext cx="4824536" cy="16256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A54A66-07B7-44F2-AF59-03F2FB2786F6}"/>
              </a:ext>
            </a:extLst>
          </p:cNvPr>
          <p:cNvSpPr txBox="1"/>
          <p:nvPr/>
        </p:nvSpPr>
        <p:spPr>
          <a:xfrm>
            <a:off x="251520" y="4653136"/>
            <a:ext cx="8485015" cy="923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/>
              <a:t>다음과 같이 </a:t>
            </a:r>
            <a:r>
              <a:rPr lang="en-US" altLang="ko-KR"/>
              <a:t>NIfTI </a:t>
            </a:r>
            <a:r>
              <a:rPr lang="ko-KR" altLang="en-US"/>
              <a:t>파일이 </a:t>
            </a:r>
            <a:r>
              <a:rPr lang="en-US" altLang="ko-KR"/>
              <a:t>4</a:t>
            </a:r>
            <a:r>
              <a:rPr lang="ko-KR" altLang="en-US"/>
              <a:t>가지가 만들어지면</a:t>
            </a:r>
            <a:r>
              <a:rPr lang="en-US" altLang="ko-KR"/>
              <a:t>, </a:t>
            </a:r>
            <a:r>
              <a:rPr lang="ko-KR" altLang="en-US"/>
              <a:t>이제 라디오믹스 인자를 뽑을 겁니다</a:t>
            </a:r>
            <a:r>
              <a:rPr lang="en-US" altLang="ko-KR"/>
              <a:t>. </a:t>
            </a:r>
          </a:p>
          <a:p>
            <a:pPr>
              <a:lnSpc>
                <a:spcPct val="160000"/>
              </a:lnSpc>
            </a:pPr>
            <a:r>
              <a:rPr lang="en-US" altLang="ko-KR"/>
              <a:t>Pyradiomics</a:t>
            </a:r>
            <a:r>
              <a:rPr lang="ko-KR" altLang="en-US"/>
              <a:t>는 다음과 같이 얻어진 </a:t>
            </a:r>
            <a:r>
              <a:rPr lang="en-US" altLang="ko-KR"/>
              <a:t>NIfTI </a:t>
            </a:r>
            <a:r>
              <a:rPr lang="ko-KR" altLang="en-US"/>
              <a:t>파일과 </a:t>
            </a:r>
            <a:r>
              <a:rPr lang="en-US" altLang="ko-KR"/>
              <a:t>DICOM </a:t>
            </a:r>
            <a:r>
              <a:rPr lang="ko-KR" altLang="en-US"/>
              <a:t>파일 두 가지가 동시에 필요합니다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253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4EA7A-6A7D-481A-9093-0C319022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Pyradiomics </a:t>
            </a:r>
            <a:r>
              <a:rPr lang="ko-KR" altLang="en-US"/>
              <a:t>사용법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82E61-9CC5-4B30-BC7A-9B7006FF758F}"/>
              </a:ext>
            </a:extLst>
          </p:cNvPr>
          <p:cNvSpPr txBox="1"/>
          <p:nvPr/>
        </p:nvSpPr>
        <p:spPr>
          <a:xfrm>
            <a:off x="88261" y="4449309"/>
            <a:ext cx="6074099" cy="1367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/>
              <a:t>마찬가지로 </a:t>
            </a:r>
            <a:r>
              <a:rPr lang="en-US" altLang="ko-KR"/>
              <a:t>Pyradiomics</a:t>
            </a:r>
            <a:r>
              <a:rPr lang="ko-KR" altLang="en-US"/>
              <a:t>도 터미널 환경에서 실행이 가능합니다</a:t>
            </a:r>
            <a:r>
              <a:rPr lang="en-US" altLang="ko-KR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/>
              <a:t>다만 안정성을 위해</a:t>
            </a:r>
            <a:r>
              <a:rPr lang="en-US" altLang="ko-KR"/>
              <a:t>, </a:t>
            </a:r>
            <a:r>
              <a:rPr lang="ko-KR" altLang="en-US"/>
              <a:t>스크립트에 사용 가능한 함수를 드리겠습니다</a:t>
            </a:r>
            <a:r>
              <a:rPr lang="en-US" altLang="ko-KR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/>
              <a:t>여기서 </a:t>
            </a:r>
            <a:r>
              <a:rPr lang="en-US" altLang="ko-KR"/>
              <a:t>Params</a:t>
            </a:r>
            <a:r>
              <a:rPr lang="ko-KR" altLang="en-US"/>
              <a:t>에</a:t>
            </a:r>
            <a:r>
              <a:rPr lang="en-US" altLang="ko-KR"/>
              <a:t> </a:t>
            </a:r>
            <a:r>
              <a:rPr lang="ko-KR" altLang="en-US"/>
              <a:t>집중해볼 여지가 있겠습니다</a:t>
            </a:r>
            <a:r>
              <a:rPr lang="en-US" altLang="ko-KR"/>
              <a:t>.   </a:t>
            </a:r>
            <a:r>
              <a:rPr lang="ko-KR" altLang="en-US"/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B02A6B-13DD-4EDE-8F4F-BEB8EE9EE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1" y="1484784"/>
            <a:ext cx="7125694" cy="6858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D7AA3E4-6919-4AC1-9E8B-0ABEC3E13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49" y="2408691"/>
            <a:ext cx="7887801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4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4EA7A-6A7D-481A-9093-0C319022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Pyradiomics Params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2A3D66-2EC7-4277-A935-BA61D560F4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86" y="1140605"/>
            <a:ext cx="3581736" cy="3173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C82E61-9CC5-4B30-BC7A-9B7006FF758F}"/>
              </a:ext>
            </a:extLst>
          </p:cNvPr>
          <p:cNvSpPr txBox="1"/>
          <p:nvPr/>
        </p:nvSpPr>
        <p:spPr>
          <a:xfrm>
            <a:off x="251520" y="4653136"/>
            <a:ext cx="8348760" cy="1367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ko-KR"/>
              <a:t>Params</a:t>
            </a:r>
            <a:r>
              <a:rPr lang="ko-KR" altLang="en-US"/>
              <a:t>는 넣을 </a:t>
            </a:r>
            <a:r>
              <a:rPr lang="en-US" altLang="ko-KR"/>
              <a:t>CT </a:t>
            </a:r>
            <a:r>
              <a:rPr lang="ko-KR" altLang="en-US"/>
              <a:t>영상에서 강도</a:t>
            </a:r>
            <a:r>
              <a:rPr lang="en-US" altLang="ko-KR"/>
              <a:t>, </a:t>
            </a:r>
            <a:r>
              <a:rPr lang="ko-KR" altLang="en-US"/>
              <a:t>거친 정도</a:t>
            </a:r>
            <a:r>
              <a:rPr lang="en-US" altLang="ko-KR"/>
              <a:t>… </a:t>
            </a:r>
            <a:r>
              <a:rPr lang="ko-KR" altLang="en-US"/>
              <a:t>같이 여러 영상학 정보를 인위적으로 변형해</a:t>
            </a:r>
            <a:endParaRPr lang="en-US" altLang="ko-KR"/>
          </a:p>
          <a:p>
            <a:pPr>
              <a:lnSpc>
                <a:spcPct val="160000"/>
              </a:lnSpc>
            </a:pPr>
            <a:r>
              <a:rPr lang="ko-KR" altLang="en-US"/>
              <a:t>다른 신호들을 얻는 방법이라고 생각하면 되겠습니다</a:t>
            </a:r>
            <a:r>
              <a:rPr lang="en-US" altLang="ko-KR"/>
              <a:t>. </a:t>
            </a:r>
          </a:p>
          <a:p>
            <a:pPr>
              <a:lnSpc>
                <a:spcPct val="160000"/>
              </a:lnSpc>
            </a:pPr>
            <a:r>
              <a:rPr lang="en-US" altLang="ko-KR"/>
              <a:t>Yaml </a:t>
            </a:r>
            <a:r>
              <a:rPr lang="ko-KR" altLang="en-US"/>
              <a:t>형식의 파일로 만들어 넣으면 됩니다</a:t>
            </a:r>
            <a:r>
              <a:rPr lang="en-US" altLang="ko-KR"/>
              <a:t>. </a:t>
            </a:r>
            <a:r>
              <a:rPr lang="ko-KR" altLang="en-US"/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20C918-D435-495F-9994-A1A9F4960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80728"/>
            <a:ext cx="1929083" cy="324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0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파형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사용자 지정 1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262640</TotalTime>
  <Words>359</Words>
  <Application>Microsoft Office PowerPoint</Application>
  <PresentationFormat>화면 슬라이드 쇼(4:3)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HY견고딕</vt:lpstr>
      <vt:lpstr>Arial</vt:lpstr>
      <vt:lpstr>맑은 고딕</vt:lpstr>
      <vt:lpstr>Arial Unicode MS</vt:lpstr>
      <vt:lpstr>Times New Roman</vt:lpstr>
      <vt:lpstr>HY중고딕</vt:lpstr>
      <vt:lpstr>Adobe 고딕 Std B</vt:lpstr>
      <vt:lpstr>Pretendard</vt:lpstr>
      <vt:lpstr>Office 테마</vt:lpstr>
      <vt:lpstr>특징 추출 과정 정리</vt:lpstr>
      <vt:lpstr>주의!</vt:lpstr>
      <vt:lpstr>TotalSegmentator</vt:lpstr>
      <vt:lpstr>TotalSegmentator 작동 설명</vt:lpstr>
      <vt:lpstr>TotalSegmentator 코드 예시</vt:lpstr>
      <vt:lpstr>License 설치 </vt:lpstr>
      <vt:lpstr>License 가상환경 적용</vt:lpstr>
      <vt:lpstr>TotalSegmentator Scripts</vt:lpstr>
      <vt:lpstr>Pyradiomics</vt:lpstr>
      <vt:lpstr>Pyradiomics 사용법</vt:lpstr>
      <vt:lpstr>Pyradiomics Params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Yi Yong Sup</dc:creator>
  <cp:lastModifiedBy>MIM</cp:lastModifiedBy>
  <cp:revision>5258</cp:revision>
  <dcterms:created xsi:type="dcterms:W3CDTF">2013-10-03T07:51:46Z</dcterms:created>
  <dcterms:modified xsi:type="dcterms:W3CDTF">2025-10-11T01:53:38Z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D:\Raphya\2018\2_학회\국내\워크샵\Monte Carlo Study of the 2-dimensional Dyamic MLC Technique to Improve Treatment Plan Quality_박효준.pptx</vt:lpwstr>
  </property>
</Properties>
</file>